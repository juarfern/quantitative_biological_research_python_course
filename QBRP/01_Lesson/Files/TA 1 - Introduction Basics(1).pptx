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64" r:id="rId4"/>
    <p:sldId id="265" r:id="rId5"/>
    <p:sldId id="278" r:id="rId6"/>
    <p:sldId id="266" r:id="rId7"/>
    <p:sldId id="286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0818" autoAdjust="0"/>
  </p:normalViewPr>
  <p:slideViewPr>
    <p:cSldViewPr snapToGrid="0">
      <p:cViewPr varScale="1">
        <p:scale>
          <a:sx n="67" d="100"/>
          <a:sy n="67" d="100"/>
        </p:scale>
        <p:origin x="8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9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2CBD-171B-4CF1-AEF8-3F52DBC11674}" type="datetimeFigureOut">
              <a:rPr lang="en-US" smtClean="0"/>
              <a:t>21-Apr-20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Quantitative Biological Research with Python (92847)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1654"/>
            <a:ext cx="9144000" cy="1655762"/>
          </a:xfrm>
        </p:spPr>
        <p:txBody>
          <a:bodyPr/>
          <a:lstStyle/>
          <a:p>
            <a:r>
              <a:rPr lang="en-US" dirty="0"/>
              <a:t>TA 1 – Introduction &amp; Basics</a:t>
            </a:r>
          </a:p>
        </p:txBody>
      </p:sp>
    </p:spTree>
    <p:extLst>
      <p:ext uri="{BB962C8B-B14F-4D97-AF65-F5344CB8AC3E}">
        <p14:creationId xmlns:p14="http://schemas.microsoft.com/office/powerpoint/2010/main" val="2527496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easy-reader.net/wp-content/uploads/2016/08/ProgrammingLanguage1-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671" y="0"/>
            <a:ext cx="3642759" cy="210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Life is short – automate away daily drudgery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Humans can’t deal with large quantities of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Off-the-shelf tools will never be flexible enough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Don’t be limited by what others give you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Make your own kind of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Independence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Programming is fun!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73640" y="5042780"/>
            <a:ext cx="5649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"The computer is incredibly fast, accurate, and stupid. Man is incredibly slow, inaccurate, and brilliant. The marriage of the two is a force beyond calculation.“</a:t>
            </a:r>
          </a:p>
          <a:p>
            <a:r>
              <a:rPr lang="en-US" dirty="0"/>
              <a:t>    </a:t>
            </a:r>
            <a:r>
              <a:rPr lang="en-US" sz="1400" strike="sngStrike" dirty="0"/>
              <a:t>Albert Einstein</a:t>
            </a:r>
            <a:r>
              <a:rPr lang="en-US" sz="1400" dirty="0"/>
              <a:t> Leo </a:t>
            </a:r>
            <a:r>
              <a:rPr lang="en-US" sz="1400" dirty="0" err="1"/>
              <a:t>Cherne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64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Python?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language itself</a:t>
            </a:r>
          </a:p>
          <a:p>
            <a:pPr lvl="1"/>
            <a:r>
              <a:rPr lang="en-US" dirty="0"/>
              <a:t>Simple and elegant</a:t>
            </a:r>
          </a:p>
          <a:p>
            <a:pPr lvl="1"/>
            <a:r>
              <a:rPr lang="en-US" dirty="0"/>
              <a:t>Dynamic</a:t>
            </a:r>
          </a:p>
          <a:p>
            <a:pPr lvl="1"/>
            <a:r>
              <a:rPr lang="en-US" dirty="0"/>
              <a:t>Object oriented AND functional</a:t>
            </a:r>
          </a:p>
          <a:p>
            <a:r>
              <a:rPr lang="en-US" dirty="0"/>
              <a:t>Multipurpose</a:t>
            </a:r>
          </a:p>
          <a:p>
            <a:pPr lvl="1"/>
            <a:r>
              <a:rPr lang="en-US" dirty="0"/>
              <a:t>Scripting</a:t>
            </a:r>
          </a:p>
          <a:p>
            <a:pPr lvl="1"/>
            <a:r>
              <a:rPr lang="en-US" dirty="0"/>
              <a:t>Large applications</a:t>
            </a:r>
          </a:p>
          <a:p>
            <a:pPr lvl="1"/>
            <a:r>
              <a:rPr lang="en-US" dirty="0"/>
              <a:t>Websites</a:t>
            </a:r>
          </a:p>
          <a:p>
            <a:pPr lvl="1"/>
            <a:r>
              <a:rPr lang="en-US" dirty="0"/>
              <a:t>Research</a:t>
            </a:r>
          </a:p>
          <a:p>
            <a:r>
              <a:rPr lang="en-US" dirty="0"/>
              <a:t>Ecosystem</a:t>
            </a:r>
          </a:p>
          <a:p>
            <a:pPr lvl="1"/>
            <a:r>
              <a:rPr lang="en-US" dirty="0"/>
              <a:t>Large active community of developers</a:t>
            </a:r>
          </a:p>
          <a:p>
            <a:pPr lvl="1"/>
            <a:r>
              <a:rPr lang="en-US" dirty="0"/>
              <a:t>Many great libraries for almost anything</a:t>
            </a:r>
          </a:p>
          <a:p>
            <a:r>
              <a:rPr lang="en-US" dirty="0"/>
              <a:t>Very popular (taking over data science &amp; bioinformatics)</a:t>
            </a:r>
          </a:p>
        </p:txBody>
      </p:sp>
      <p:pic>
        <p:nvPicPr>
          <p:cNvPr id="6" name="Picture 2" descr="https://www.python.org/static/opengraph-icon-200x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392" y="-9997"/>
            <a:ext cx="1457608" cy="145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367" y="1825625"/>
            <a:ext cx="4533900" cy="1047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367" y="3248497"/>
            <a:ext cx="2333625" cy="342900"/>
          </a:xfrm>
          <a:prstGeom prst="rect">
            <a:avLst/>
          </a:prstGeom>
        </p:spPr>
      </p:pic>
      <p:pic>
        <p:nvPicPr>
          <p:cNvPr id="2052" name="Picture 4" descr="https://updraftplus.com/wp-content/uploads/2013/01/dropbox-02-1024x102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777" y="4877884"/>
            <a:ext cx="1759248" cy="175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s.ytimg.com/yts/img/yt_1200-vfl4C3T0K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7" t="33060" r="15225" b="34874"/>
          <a:stretch/>
        </p:blipFill>
        <p:spPr bwMode="auto">
          <a:xfrm>
            <a:off x="7434935" y="4296798"/>
            <a:ext cx="2822842" cy="132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957180" y="1726042"/>
            <a:ext cx="93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java: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179" y="3221338"/>
            <a:ext cx="115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Python:</a:t>
            </a:r>
          </a:p>
        </p:txBody>
      </p:sp>
    </p:spTree>
    <p:extLst>
      <p:ext uri="{BB962C8B-B14F-4D97-AF65-F5344CB8AC3E}">
        <p14:creationId xmlns:p14="http://schemas.microsoft.com/office/powerpoint/2010/main" val="96002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2037029" y="1059253"/>
            <a:ext cx="4834550" cy="4834550"/>
          </a:xfrm>
          <a:prstGeom prst="ellipse">
            <a:avLst/>
          </a:prstGeom>
          <a:solidFill>
            <a:srgbClr val="5B9BD5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59378" y="1059253"/>
            <a:ext cx="4834550" cy="4834550"/>
          </a:xfrm>
          <a:prstGeom prst="ellipse">
            <a:avLst/>
          </a:prstGeom>
          <a:solidFill>
            <a:srgbClr val="FFFF00">
              <a:alpha val="4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396682" y="717082"/>
            <a:ext cx="326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Languages suited for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1926" y="717082"/>
            <a:ext cx="425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Languages suited for general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836" y="1946492"/>
            <a:ext cx="1176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6653" y="4318500"/>
            <a:ext cx="173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Matlab</a:t>
            </a:r>
            <a:endParaRPr lang="en-US" sz="4000" dirty="0"/>
          </a:p>
        </p:txBody>
      </p:sp>
      <p:sp>
        <p:nvSpPr>
          <p:cNvPr id="13" name="TextBox 12"/>
          <p:cNvSpPr txBox="1"/>
          <p:nvPr/>
        </p:nvSpPr>
        <p:spPr>
          <a:xfrm>
            <a:off x="5158966" y="2904650"/>
            <a:ext cx="173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2472" y="1736753"/>
            <a:ext cx="1176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4876" y="3716962"/>
            <a:ext cx="1574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C/C++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0054" y="4664556"/>
            <a:ext cx="1176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195015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Trivia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Named after Monty Python</a:t>
            </a:r>
          </a:p>
          <a:p>
            <a:r>
              <a:rPr lang="en-US" dirty="0"/>
              <a:t>Was created in 1991 by Guido van </a:t>
            </a:r>
            <a:r>
              <a:rPr lang="en-US" dirty="0" err="1"/>
              <a:t>Rossum</a:t>
            </a:r>
            <a:endParaRPr lang="en-US" dirty="0"/>
          </a:p>
          <a:p>
            <a:r>
              <a:rPr lang="en-US" dirty="0"/>
              <a:t>Python 2.0 was released in 2000, 3.0 in 2008</a:t>
            </a:r>
          </a:p>
        </p:txBody>
      </p:sp>
      <p:pic>
        <p:nvPicPr>
          <p:cNvPr id="3074" name="Picture 2" descr="File:Guido van Rossum OSCON 20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757" y="1690688"/>
            <a:ext cx="2832068" cy="424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upload.wikimedia.org/wikipedia/en/c/cb/Flyingcircus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01" y="3711070"/>
            <a:ext cx="3815281" cy="286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7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get down to that Python business!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2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ways to run Python:</a:t>
            </a:r>
          </a:p>
          <a:p>
            <a:pPr lvl="1"/>
            <a:r>
              <a:rPr lang="en-US" dirty="0"/>
              <a:t>Executing .</a:t>
            </a:r>
            <a:r>
              <a:rPr lang="en-US" dirty="0" err="1"/>
              <a:t>py</a:t>
            </a:r>
            <a:r>
              <a:rPr lang="en-US" dirty="0"/>
              <a:t> files</a:t>
            </a:r>
          </a:p>
          <a:p>
            <a:pPr lvl="1"/>
            <a:r>
              <a:rPr lang="en-US" dirty="0"/>
              <a:t>Shell</a:t>
            </a:r>
          </a:p>
          <a:p>
            <a:pPr lvl="2"/>
            <a:r>
              <a:rPr lang="en-US" dirty="0"/>
              <a:t>The standard Python shell</a:t>
            </a:r>
          </a:p>
          <a:p>
            <a:pPr lvl="2"/>
            <a:r>
              <a:rPr lang="en-US" u="sng" dirty="0" err="1"/>
              <a:t>IPython</a:t>
            </a:r>
            <a:endParaRPr lang="en-US" u="sng" dirty="0"/>
          </a:p>
          <a:p>
            <a:pPr lvl="1"/>
            <a:r>
              <a:rPr lang="en-US" dirty="0"/>
              <a:t>IDEs (e.g. Idle, </a:t>
            </a:r>
            <a:r>
              <a:rPr lang="en-US" dirty="0" err="1"/>
              <a:t>PyDev</a:t>
            </a:r>
            <a:r>
              <a:rPr lang="en-US" dirty="0"/>
              <a:t>, </a:t>
            </a:r>
            <a:r>
              <a:rPr lang="en-US" dirty="0" err="1"/>
              <a:t>Spyder</a:t>
            </a:r>
            <a:r>
              <a:rPr lang="en-US" dirty="0"/>
              <a:t>, Komodo)</a:t>
            </a:r>
          </a:p>
          <a:p>
            <a:pPr lvl="1"/>
            <a:r>
              <a:rPr lang="en-US" u="sng" dirty="0" err="1"/>
              <a:t>Jupyter</a:t>
            </a:r>
            <a:r>
              <a:rPr lang="en-US" u="sng" dirty="0"/>
              <a:t> notebook </a:t>
            </a:r>
            <a:r>
              <a:rPr lang="en-US" dirty="0"/>
              <a:t>(AKA </a:t>
            </a:r>
            <a:r>
              <a:rPr lang="en-US" dirty="0" err="1"/>
              <a:t>IPython</a:t>
            </a:r>
            <a:r>
              <a:rPr lang="en-US" dirty="0"/>
              <a:t> Notebook)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10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Originally (2011) called </a:t>
            </a:r>
            <a:r>
              <a:rPr lang="en-US" dirty="0" err="1"/>
              <a:t>IPython</a:t>
            </a:r>
            <a:r>
              <a:rPr lang="en-US" dirty="0"/>
              <a:t> notebook, branched into </a:t>
            </a:r>
            <a:r>
              <a:rPr lang="en-US" dirty="0" err="1"/>
              <a:t>Jupyter</a:t>
            </a:r>
            <a:r>
              <a:rPr lang="en-US" dirty="0"/>
              <a:t> in 2014</a:t>
            </a:r>
          </a:p>
          <a:p>
            <a:r>
              <a:rPr lang="en-US" dirty="0"/>
              <a:t>An integrated framework for:</a:t>
            </a:r>
          </a:p>
          <a:p>
            <a:pPr lvl="1"/>
            <a:r>
              <a:rPr lang="en-US" dirty="0"/>
              <a:t>Code</a:t>
            </a:r>
          </a:p>
          <a:p>
            <a:pPr lvl="1"/>
            <a:r>
              <a:rPr lang="en-US" dirty="0"/>
              <a:t>Text/markup</a:t>
            </a:r>
          </a:p>
          <a:p>
            <a:pPr lvl="1"/>
            <a:r>
              <a:rPr lang="en-US" dirty="0"/>
              <a:t>Tables, figures, widgets </a:t>
            </a:r>
          </a:p>
          <a:p>
            <a:r>
              <a:rPr lang="en-US" dirty="0"/>
              <a:t>Runs inside the browser</a:t>
            </a:r>
          </a:p>
          <a:p>
            <a:r>
              <a:rPr lang="en-US" dirty="0"/>
              <a:t>Python (or other languages) runs in a kernel</a:t>
            </a:r>
          </a:p>
          <a:p>
            <a:r>
              <a:rPr lang="en-US" dirty="0"/>
              <a:t>Reproducible research</a:t>
            </a:r>
          </a:p>
        </p:txBody>
      </p:sp>
      <p:pic>
        <p:nvPicPr>
          <p:cNvPr id="4098" name="Picture 2" descr="http://i.imgur.com/eo2SqS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326" y="2761307"/>
            <a:ext cx="4355035" cy="397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61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Environment for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to work mostly with </a:t>
            </a:r>
            <a:r>
              <a:rPr lang="en-US" dirty="0" err="1"/>
              <a:t>Jupyter</a:t>
            </a:r>
            <a:endParaRPr lang="en-US" dirty="0"/>
          </a:p>
          <a:p>
            <a:pPr lvl="1"/>
            <a:r>
              <a:rPr lang="en-US" dirty="0"/>
              <a:t>Can also use </a:t>
            </a:r>
            <a:r>
              <a:rPr lang="en-US" dirty="0" err="1"/>
              <a:t>IPython</a:t>
            </a:r>
            <a:r>
              <a:rPr lang="en-US" dirty="0"/>
              <a:t> for small experiments</a:t>
            </a:r>
          </a:p>
          <a:p>
            <a:r>
              <a:rPr lang="en-US" dirty="0"/>
              <a:t>Write your exercise solutions as notebooks</a:t>
            </a:r>
          </a:p>
          <a:p>
            <a:r>
              <a:rPr lang="en-US" dirty="0"/>
              <a:t>We’ll learn more </a:t>
            </a:r>
            <a:r>
              <a:rPr lang="en-US" dirty="0" err="1"/>
              <a:t>Jupyter</a:t>
            </a:r>
            <a:r>
              <a:rPr lang="en-US" dirty="0"/>
              <a:t> and </a:t>
            </a:r>
            <a:r>
              <a:rPr lang="en-US" dirty="0" err="1"/>
              <a:t>IPython</a:t>
            </a:r>
            <a:r>
              <a:rPr lang="en-US" dirty="0"/>
              <a:t> features, and touch on more complicated environment topics, later in the course…</a:t>
            </a:r>
          </a:p>
        </p:txBody>
      </p:sp>
    </p:spTree>
    <p:extLst>
      <p:ext uri="{BB962C8B-B14F-4D97-AF65-F5344CB8AC3E}">
        <p14:creationId xmlns:p14="http://schemas.microsoft.com/office/powerpoint/2010/main" val="4251293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start learning Python!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today’s menu:</a:t>
            </a:r>
          </a:p>
          <a:p>
            <a:pPr lvl="1"/>
            <a:r>
              <a:rPr lang="en-US" dirty="0"/>
              <a:t>Variables &amp; types</a:t>
            </a:r>
          </a:p>
          <a:p>
            <a:pPr lvl="1"/>
            <a:r>
              <a:rPr lang="en-US" dirty="0"/>
              <a:t>Numbers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Conditions &amp; loops</a:t>
            </a:r>
          </a:p>
          <a:p>
            <a:pPr lvl="1"/>
            <a:r>
              <a:rPr lang="en-US" dirty="0"/>
              <a:t>Lists, tuples, dictionaries &amp; sets</a:t>
            </a:r>
          </a:p>
        </p:txBody>
      </p:sp>
    </p:spTree>
    <p:extLst>
      <p:ext uri="{BB962C8B-B14F-4D97-AF65-F5344CB8AC3E}">
        <p14:creationId xmlns:p14="http://schemas.microsoft.com/office/powerpoint/2010/main" val="203771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Python 2 vs.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Since 2008, Python 3 is available</a:t>
            </a:r>
          </a:p>
          <a:p>
            <a:r>
              <a:rPr lang="en-US" dirty="0"/>
              <a:t>Python 3 broke some interfaces</a:t>
            </a:r>
          </a:p>
          <a:p>
            <a:r>
              <a:rPr lang="en-US" dirty="0"/>
              <a:t>Some users still use Python 2 (end of life in 2020)</a:t>
            </a:r>
          </a:p>
          <a:p>
            <a:r>
              <a:rPr lang="en-US" dirty="0"/>
              <a:t>Current versions: 3.8.0 and 2.7.17 </a:t>
            </a:r>
          </a:p>
          <a:p>
            <a:r>
              <a:rPr lang="en-US" dirty="0"/>
              <a:t>Some notable differences: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division</a:t>
            </a:r>
          </a:p>
          <a:p>
            <a:pPr lvl="1"/>
            <a:r>
              <a:rPr lang="en-US" dirty="0"/>
              <a:t>imports</a:t>
            </a:r>
          </a:p>
          <a:p>
            <a:pPr lvl="1"/>
            <a:r>
              <a:rPr lang="en-US" dirty="0" err="1"/>
              <a:t>unicode</a:t>
            </a:r>
            <a:r>
              <a:rPr lang="en-US" dirty="0"/>
              <a:t> strings</a:t>
            </a:r>
          </a:p>
          <a:p>
            <a:r>
              <a:rPr lang="en-US" dirty="0"/>
              <a:t>The __future__ module: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838" y="5693953"/>
            <a:ext cx="70961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2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3806</TotalTime>
  <Words>399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Quantitative Biological Research with Python (92847)</vt:lpstr>
      <vt:lpstr>Motivation</vt:lpstr>
      <vt:lpstr>Why programming?</vt:lpstr>
      <vt:lpstr>Why Python?</vt:lpstr>
      <vt:lpstr>PowerPoint Presentation</vt:lpstr>
      <vt:lpstr>Trivia facts</vt:lpstr>
      <vt:lpstr>Let’s get down to that Python business!</vt:lpstr>
      <vt:lpstr>Environment</vt:lpstr>
      <vt:lpstr>Jupyter Notebook</vt:lpstr>
      <vt:lpstr>Environment for the course</vt:lpstr>
      <vt:lpstr>Let’s start learning Python!</vt:lpstr>
      <vt:lpstr>Python 2 vs.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Biological Research with Python (92847) – Course Outline</dc:title>
  <dc:creator>Nadav Brandes</dc:creator>
  <cp:lastModifiedBy>Nadav Brandes</cp:lastModifiedBy>
  <cp:revision>245</cp:revision>
  <dcterms:created xsi:type="dcterms:W3CDTF">2016-10-14T13:10:16Z</dcterms:created>
  <dcterms:modified xsi:type="dcterms:W3CDTF">2020-04-21T12:20:57Z</dcterms:modified>
</cp:coreProperties>
</file>