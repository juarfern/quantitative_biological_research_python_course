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65" r:id="rId6"/>
    <p:sldId id="259" r:id="rId7"/>
    <p:sldId id="260" r:id="rId8"/>
    <p:sldId id="263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34" autoAdjust="0"/>
  </p:normalViewPr>
  <p:slideViewPr>
    <p:cSldViewPr snapToGrid="0">
      <p:cViewPr varScale="1">
        <p:scale>
          <a:sx n="70" d="100"/>
          <a:sy n="70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1347F-173B-4575-8806-9C4B1CF3BE62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CA625-7EC5-4524-990B-ECC7DABAF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6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CA625-7EC5-4524-990B-ECC7DABAF7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56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4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9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6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0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9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8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C2CBD-171B-4CF1-AEF8-3F52DBC11674}" type="datetimeFigureOut">
              <a:rPr lang="en-US" smtClean="0"/>
              <a:t>10-Dec-19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2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pandas.pydata.org/pandas-docs/stable/generated/pandas.read_csv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Quantitative Biological Research with Python (92847)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41654"/>
            <a:ext cx="9144000" cy="1655762"/>
          </a:xfrm>
        </p:spPr>
        <p:txBody>
          <a:bodyPr/>
          <a:lstStyle/>
          <a:p>
            <a:r>
              <a:rPr lang="en-US" dirty="0"/>
              <a:t>TA 7 – Pandas</a:t>
            </a:r>
          </a:p>
        </p:txBody>
      </p:sp>
    </p:spTree>
    <p:extLst>
      <p:ext uri="{BB962C8B-B14F-4D97-AF65-F5344CB8AC3E}">
        <p14:creationId xmlns:p14="http://schemas.microsoft.com/office/powerpoint/2010/main" val="2527496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73705" cy="4351338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Weeks 1-3: Basics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Weeks 4-6: Biological sequences</a:t>
            </a:r>
          </a:p>
          <a:p>
            <a:r>
              <a:rPr lang="en-US" b="1" dirty="0">
                <a:solidFill>
                  <a:srgbClr val="FF0000"/>
                </a:solidFill>
              </a:rPr>
              <a:t>Weeks 7-11: </a:t>
            </a:r>
            <a:r>
              <a:rPr lang="en-US" b="1" u="sng" dirty="0">
                <a:solidFill>
                  <a:srgbClr val="FF0000"/>
                </a:solidFill>
              </a:rPr>
              <a:t>Advanced data processing</a:t>
            </a:r>
            <a:r>
              <a:rPr lang="en-US" b="1" dirty="0">
                <a:solidFill>
                  <a:srgbClr val="FF0000"/>
                </a:solidFill>
              </a:rPr>
              <a:t>, visualization &amp; Statistics</a:t>
            </a:r>
          </a:p>
          <a:p>
            <a:r>
              <a:rPr lang="en-US" dirty="0"/>
              <a:t>Weeks 12-13: Genetic variation, advanced programming skills</a:t>
            </a:r>
          </a:p>
        </p:txBody>
      </p:sp>
      <p:pic>
        <p:nvPicPr>
          <p:cNvPr id="4098" name="Picture 2" descr="http://www.n2ws.com/images/green-v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443" y="1901228"/>
            <a:ext cx="328318" cy="29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www.n2ws.com/images/green-v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841" y="2433873"/>
            <a:ext cx="328318" cy="29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9833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Tabular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64651" cy="4351338"/>
          </a:xfrm>
        </p:spPr>
        <p:txBody>
          <a:bodyPr/>
          <a:lstStyle/>
          <a:p>
            <a:r>
              <a:rPr lang="en-US" dirty="0"/>
              <a:t>Perhaps the most common data representation</a:t>
            </a:r>
          </a:p>
          <a:p>
            <a:r>
              <a:rPr lang="en-US" dirty="0"/>
              <a:t>For example, samples (e.g. phenotypes, genotypes, etc.)</a:t>
            </a:r>
          </a:p>
          <a:p>
            <a:r>
              <a:rPr lang="en-US" dirty="0"/>
              <a:t>A large portion of research work boils down to processing such data </a:t>
            </a:r>
          </a:p>
          <a:p>
            <a:r>
              <a:rPr lang="en-US" dirty="0"/>
              <a:t>The built-in </a:t>
            </a:r>
            <a:r>
              <a:rPr lang="en-US" b="1" i="1" dirty="0" err="1"/>
              <a:t>csv</a:t>
            </a:r>
            <a:r>
              <a:rPr lang="en-US" dirty="0"/>
              <a:t> Python library is very limited</a:t>
            </a:r>
          </a:p>
          <a:p>
            <a:pPr lvl="1"/>
            <a:r>
              <a:rPr lang="en-US" dirty="0"/>
              <a:t>Still requires a lot of parsing work</a:t>
            </a:r>
          </a:p>
          <a:p>
            <a:pPr lvl="1"/>
            <a:r>
              <a:rPr lang="en-US" dirty="0"/>
              <a:t>Doesn’t provide a nice data structure to work with</a:t>
            </a:r>
          </a:p>
        </p:txBody>
      </p:sp>
      <p:pic>
        <p:nvPicPr>
          <p:cNvPr id="1026" name="Picture 2" descr="http://www.cognossource.com/wp-content/uploads/2013/05/Prepare-an-Excel-file-as-ODBC-source-for-Data-Advisor-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2898"/>
          <a:stretch/>
        </p:blipFill>
        <p:spPr bwMode="auto">
          <a:xfrm>
            <a:off x="8214334" y="2444436"/>
            <a:ext cx="3663813" cy="3732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1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Pandas to the rescue</a:t>
            </a:r>
            <a:br>
              <a:rPr lang="en-US" dirty="0"/>
            </a:br>
            <a:r>
              <a:rPr lang="en-US" sz="2800" dirty="0" smtClean="0"/>
              <a:t>(O</a:t>
            </a:r>
            <a:r>
              <a:rPr lang="en-US" sz="2800" dirty="0" smtClean="0"/>
              <a:t>r, </a:t>
            </a:r>
            <a:r>
              <a:rPr lang="en-US" sz="2800" dirty="0" smtClean="0"/>
              <a:t>how </a:t>
            </a:r>
            <a:r>
              <a:rPr lang="en-US" sz="2800" dirty="0"/>
              <a:t>to process tabular data like a pro)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very strong Python library for processing tabular </a:t>
            </a:r>
            <a:r>
              <a:rPr lang="en-US" dirty="0" smtClean="0"/>
              <a:t>data</a:t>
            </a:r>
          </a:p>
          <a:p>
            <a:r>
              <a:rPr lang="en-US" dirty="0" smtClean="0"/>
              <a:t>Can </a:t>
            </a:r>
            <a:r>
              <a:rPr lang="en-US" dirty="0"/>
              <a:t>handle many formats, including CSV and Excel </a:t>
            </a:r>
            <a:r>
              <a:rPr lang="en-US" dirty="0" smtClean="0"/>
              <a:t>files</a:t>
            </a:r>
          </a:p>
          <a:p>
            <a:r>
              <a:rPr lang="en-US" dirty="0"/>
              <a:t>Two main objects: </a:t>
            </a:r>
            <a:r>
              <a:rPr lang="en-US" b="1" i="1" dirty="0"/>
              <a:t>Series</a:t>
            </a:r>
            <a:r>
              <a:rPr lang="en-US" dirty="0"/>
              <a:t> and </a:t>
            </a:r>
            <a:r>
              <a:rPr lang="en-US" b="1" i="1" dirty="0" err="1" smtClean="0"/>
              <a:t>DataFrame</a:t>
            </a:r>
            <a:endParaRPr lang="en-US" dirty="0"/>
          </a:p>
          <a:p>
            <a:r>
              <a:rPr lang="en-US" dirty="0" smtClean="0"/>
              <a:t>Inspired </a:t>
            </a:r>
            <a:r>
              <a:rPr lang="en-US" dirty="0"/>
              <a:t>by </a:t>
            </a:r>
            <a:r>
              <a:rPr lang="en-US" b="1" dirty="0"/>
              <a:t>R</a:t>
            </a:r>
            <a:r>
              <a:rPr lang="en-US" dirty="0"/>
              <a:t> and </a:t>
            </a:r>
            <a:r>
              <a:rPr lang="en-US" b="1" dirty="0" smtClean="0"/>
              <a:t>SQL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15" y="230188"/>
            <a:ext cx="2670960" cy="9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2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Highly flexible, can do almost any standard processing (e.g. merging, indexing, grouping)</a:t>
            </a:r>
          </a:p>
          <a:p>
            <a:pPr lvl="1"/>
            <a:r>
              <a:rPr lang="en-US" dirty="0"/>
              <a:t>Efficient </a:t>
            </a:r>
            <a:r>
              <a:rPr lang="en-US" dirty="0" smtClean="0"/>
              <a:t>(critical </a:t>
            </a:r>
            <a:r>
              <a:rPr lang="en-US" dirty="0"/>
              <a:t>code paths written in </a:t>
            </a:r>
            <a:r>
              <a:rPr lang="en-US" dirty="0" err="1"/>
              <a:t>Cython</a:t>
            </a:r>
            <a:r>
              <a:rPr lang="en-US" dirty="0"/>
              <a:t> or C)</a:t>
            </a:r>
          </a:p>
          <a:p>
            <a:pPr lvl="1"/>
            <a:r>
              <a:rPr lang="en-US" dirty="0"/>
              <a:t>Compatible with </a:t>
            </a:r>
            <a:r>
              <a:rPr lang="en-US" dirty="0" err="1"/>
              <a:t>Numpy</a:t>
            </a:r>
            <a:r>
              <a:rPr lang="en-US" dirty="0"/>
              <a:t> (e.g. </a:t>
            </a:r>
            <a:r>
              <a:rPr lang="en-US" dirty="0" err="1"/>
              <a:t>dtypes</a:t>
            </a:r>
            <a:r>
              <a:rPr lang="en-US" dirty="0"/>
              <a:t>, slicing)</a:t>
            </a:r>
          </a:p>
          <a:p>
            <a:pPr lvl="1"/>
            <a:r>
              <a:rPr lang="en-US" dirty="0"/>
              <a:t>Good integration with </a:t>
            </a:r>
            <a:r>
              <a:rPr lang="en-US" dirty="0" err="1"/>
              <a:t>Jupyter</a:t>
            </a:r>
            <a:r>
              <a:rPr lang="en-US" dirty="0"/>
              <a:t> and </a:t>
            </a:r>
            <a:r>
              <a:rPr lang="en-US" dirty="0" err="1"/>
              <a:t>Matplotlib</a:t>
            </a:r>
            <a:endParaRPr lang="en-US" dirty="0"/>
          </a:p>
          <a:p>
            <a:r>
              <a:rPr lang="en-US" dirty="0"/>
              <a:t>Pandas is an important element in Python’s ecosystem</a:t>
            </a:r>
          </a:p>
          <a:p>
            <a:pPr lvl="1"/>
            <a:r>
              <a:rPr lang="en-US" dirty="0"/>
              <a:t>Increasingly, packages are being built on top of it</a:t>
            </a:r>
          </a:p>
          <a:p>
            <a:r>
              <a:rPr lang="en-US" dirty="0"/>
              <a:t>Great interface, but not always intuitive (great documentation though)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947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Stores 1D data</a:t>
            </a:r>
          </a:p>
          <a:p>
            <a:r>
              <a:rPr lang="en-US" dirty="0"/>
              <a:t>A series of (index, value) pairs</a:t>
            </a:r>
          </a:p>
          <a:p>
            <a:r>
              <a:rPr lang="en-US" dirty="0" smtClean="0"/>
              <a:t>Can </a:t>
            </a:r>
            <a:r>
              <a:rPr lang="en-US" dirty="0"/>
              <a:t>also be indexed by </a:t>
            </a:r>
            <a:r>
              <a:rPr lang="en-US" dirty="0" smtClean="0"/>
              <a:t>position</a:t>
            </a:r>
          </a:p>
          <a:p>
            <a:r>
              <a:rPr lang="en-US" dirty="0"/>
              <a:t>Can be thought of as an ordered </a:t>
            </a:r>
            <a:r>
              <a:rPr lang="en-US" dirty="0" smtClean="0"/>
              <a:t>dictionary</a:t>
            </a:r>
            <a:endParaRPr lang="en-US" dirty="0"/>
          </a:p>
        </p:txBody>
      </p:sp>
      <p:pic>
        <p:nvPicPr>
          <p:cNvPr id="2050" name="Picture 2" descr="https://www.analyticsvidhya.com/wp-content/uploads/2016/02/4.-seri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653" y="2435030"/>
            <a:ext cx="3899026" cy="2987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809747" y="2435030"/>
            <a:ext cx="1626606" cy="2625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590259" y="2435030"/>
            <a:ext cx="514536" cy="2625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259402" y="2073505"/>
            <a:ext cx="1176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16319" y="2065698"/>
            <a:ext cx="1176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5846" y="5233844"/>
            <a:ext cx="113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0319" y="5233844"/>
            <a:ext cx="113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Type</a:t>
            </a:r>
          </a:p>
        </p:txBody>
      </p:sp>
    </p:spTree>
    <p:extLst>
      <p:ext uri="{BB962C8B-B14F-4D97-AF65-F5344CB8AC3E}">
        <p14:creationId xmlns:p14="http://schemas.microsoft.com/office/powerpoint/2010/main" val="3619411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884406" cy="4351338"/>
          </a:xfrm>
        </p:spPr>
        <p:txBody>
          <a:bodyPr/>
          <a:lstStyle/>
          <a:p>
            <a:r>
              <a:rPr lang="en-US" dirty="0"/>
              <a:t>Stores 2D data</a:t>
            </a:r>
          </a:p>
          <a:p>
            <a:r>
              <a:rPr lang="en-US" dirty="0"/>
              <a:t>Has an </a:t>
            </a:r>
            <a:r>
              <a:rPr lang="en-US" i="1" dirty="0"/>
              <a:t>index</a:t>
            </a:r>
            <a:r>
              <a:rPr lang="en-US" dirty="0"/>
              <a:t> (default is </a:t>
            </a:r>
            <a:r>
              <a:rPr lang="en-US" sz="2000" i="1" dirty="0"/>
              <a:t>0…(N-1)</a:t>
            </a:r>
            <a:r>
              <a:rPr lang="en-US" dirty="0"/>
              <a:t>)</a:t>
            </a:r>
          </a:p>
          <a:p>
            <a:r>
              <a:rPr lang="en-US" dirty="0"/>
              <a:t>Each column has a type (but can be ‘object’)</a:t>
            </a:r>
          </a:p>
          <a:p>
            <a:r>
              <a:rPr lang="en-US" dirty="0"/>
              <a:t>Each row and column is a Series</a:t>
            </a:r>
          </a:p>
          <a:p>
            <a:pPr lvl="1"/>
            <a:r>
              <a:rPr lang="en-US" dirty="0"/>
              <a:t>Row: (column, value)</a:t>
            </a:r>
          </a:p>
          <a:p>
            <a:pPr lvl="1"/>
            <a:r>
              <a:rPr lang="en-US" dirty="0"/>
              <a:t>Column: (row index, value)</a:t>
            </a:r>
          </a:p>
          <a:p>
            <a:r>
              <a:rPr lang="en-US" dirty="0"/>
              <a:t>Series and </a:t>
            </a:r>
            <a:r>
              <a:rPr lang="en-US" dirty="0" err="1"/>
              <a:t>DataFrames</a:t>
            </a:r>
            <a:r>
              <a:rPr lang="en-US" dirty="0"/>
              <a:t> are essentially named arrays</a:t>
            </a:r>
          </a:p>
        </p:txBody>
      </p:sp>
      <p:pic>
        <p:nvPicPr>
          <p:cNvPr id="3074" name="Picture 2" descr="https://sarahleejane.github.io/assets/simple_table_d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250" y="3829274"/>
            <a:ext cx="4564832" cy="2622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9551407" y="3829273"/>
            <a:ext cx="959667" cy="26229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487218" y="5513556"/>
            <a:ext cx="4427143" cy="4913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563133" y="3459940"/>
            <a:ext cx="1122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6935" y="5574583"/>
            <a:ext cx="1122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Row</a:t>
            </a:r>
          </a:p>
        </p:txBody>
      </p:sp>
    </p:spTree>
    <p:extLst>
      <p:ext uri="{BB962C8B-B14F-4D97-AF65-F5344CB8AC3E}">
        <p14:creationId xmlns:p14="http://schemas.microsoft.com/office/powerpoint/2010/main" val="1397901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pd.read_csv</a:t>
            </a:r>
            <a:r>
              <a:rPr lang="en-US" dirty="0"/>
              <a:t>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sep</a:t>
            </a:r>
            <a:r>
              <a:rPr lang="en-US" dirty="0"/>
              <a:t>/delimiter (e.g. </a:t>
            </a:r>
            <a:r>
              <a:rPr lang="en-US" sz="2400" i="1" dirty="0" err="1"/>
              <a:t>sep</a:t>
            </a:r>
            <a:r>
              <a:rPr lang="en-US" sz="2400" i="1" dirty="0"/>
              <a:t> = ‘\t’</a:t>
            </a:r>
            <a:r>
              <a:rPr lang="en-US" dirty="0"/>
              <a:t>)</a:t>
            </a:r>
          </a:p>
          <a:p>
            <a:r>
              <a:rPr lang="en-US" dirty="0" err="1" smtClean="0"/>
              <a:t>true_values</a:t>
            </a:r>
            <a:r>
              <a:rPr lang="en-US" dirty="0" smtClean="0"/>
              <a:t>, </a:t>
            </a:r>
            <a:r>
              <a:rPr lang="en-US" dirty="0" err="1" smtClean="0"/>
              <a:t>false_values</a:t>
            </a:r>
            <a:r>
              <a:rPr lang="en-US" dirty="0" smtClean="0"/>
              <a:t>, </a:t>
            </a:r>
            <a:r>
              <a:rPr lang="en-US" dirty="0" err="1" smtClean="0"/>
              <a:t>na_values</a:t>
            </a:r>
            <a:endParaRPr lang="en-US" dirty="0"/>
          </a:p>
          <a:p>
            <a:r>
              <a:rPr lang="en-US" dirty="0"/>
              <a:t>Iterator (for very big files)</a:t>
            </a:r>
          </a:p>
          <a:p>
            <a:r>
              <a:rPr lang="en-US" dirty="0"/>
              <a:t>There are dozens more, </a:t>
            </a:r>
            <a:r>
              <a:rPr lang="en-US" dirty="0" smtClean="0"/>
              <a:t>see: </a:t>
            </a: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://pandas.pydata.org/pandas-docs/stable/generated/pandas.read_csv.html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8195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 </a:t>
            </a:r>
            <a:r>
              <a:rPr lang="en-US" dirty="0" smtClean="0"/>
              <a:t>allows interactive</a:t>
            </a:r>
            <a:endParaRPr lang="en-US" dirty="0"/>
          </a:p>
          <a:p>
            <a:r>
              <a:rPr lang="en-US" dirty="0"/>
              <a:t>Often makes Excel redundant</a:t>
            </a:r>
          </a:p>
          <a:p>
            <a:r>
              <a:rPr lang="en-US" dirty="0"/>
              <a:t>Almost anything can be done efficiently within the framework, without resorting to “pure Python”</a:t>
            </a:r>
          </a:p>
          <a:p>
            <a:pPr lvl="1"/>
            <a:r>
              <a:rPr lang="en-US" dirty="0"/>
              <a:t>Not always easy to find how</a:t>
            </a:r>
          </a:p>
          <a:p>
            <a:r>
              <a:rPr lang="en-US" dirty="0"/>
              <a:t>We will learn more advanced stuff later on, e.g.:</a:t>
            </a:r>
          </a:p>
          <a:p>
            <a:pPr lvl="1"/>
            <a:r>
              <a:rPr lang="en-US" dirty="0"/>
              <a:t>Grouping and aggregation</a:t>
            </a:r>
          </a:p>
          <a:p>
            <a:pPr lvl="1"/>
            <a:r>
              <a:rPr lang="en-US" dirty="0"/>
              <a:t>Merging </a:t>
            </a:r>
            <a:r>
              <a:rPr lang="en-US" dirty="0" err="1"/>
              <a:t>DataFrames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606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15142</TotalTime>
  <Words>380</Words>
  <Application>Microsoft Office PowerPoint</Application>
  <PresentationFormat>Widescreen</PresentationFormat>
  <Paragraphs>60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Quantitative Biological Research with Python (92847)</vt:lpstr>
      <vt:lpstr>Course outline</vt:lpstr>
      <vt:lpstr>Tabular data</vt:lpstr>
      <vt:lpstr>Pandas to the rescue (Or, how to process tabular data like a pro)</vt:lpstr>
      <vt:lpstr>PowerPoint Presentation</vt:lpstr>
      <vt:lpstr>Series</vt:lpstr>
      <vt:lpstr>DataFrame</vt:lpstr>
      <vt:lpstr>pd.read_csv arguments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Biological Research with Python (92847) – Course Outline</dc:title>
  <dc:creator>Nadav Brandes</dc:creator>
  <cp:lastModifiedBy>Nadav Brandes</cp:lastModifiedBy>
  <cp:revision>554</cp:revision>
  <dcterms:created xsi:type="dcterms:W3CDTF">2016-10-14T13:10:16Z</dcterms:created>
  <dcterms:modified xsi:type="dcterms:W3CDTF">2019-12-10T10:22:46Z</dcterms:modified>
</cp:coreProperties>
</file>