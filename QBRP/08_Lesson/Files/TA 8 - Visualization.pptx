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4" r:id="rId9"/>
    <p:sldId id="265" r:id="rId10"/>
    <p:sldId id="267" r:id="rId11"/>
    <p:sldId id="268" r:id="rId12"/>
    <p:sldId id="275" r:id="rId13"/>
    <p:sldId id="269" r:id="rId14"/>
    <p:sldId id="270" r:id="rId15"/>
    <p:sldId id="271" r:id="rId16"/>
    <p:sldId id="272" r:id="rId17"/>
    <p:sldId id="273" r:id="rId18"/>
    <p:sldId id="262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34" autoAdjust="0"/>
  </p:normalViewPr>
  <p:slideViewPr>
    <p:cSldViewPr snapToGrid="0">
      <p:cViewPr varScale="1">
        <p:scale>
          <a:sx n="70" d="100"/>
          <a:sy n="70" d="100"/>
        </p:scale>
        <p:origin x="7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1347F-173B-4575-8806-9C4B1CF3BE62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CA625-7EC5-4524-990B-ECC7DABAF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6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4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9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6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0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9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8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C2CBD-171B-4CF1-AEF8-3F52DBC11674}" type="datetimeFigureOut">
              <a:rPr lang="en-US" smtClean="0"/>
              <a:t>15-Dec-19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2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matplotlib.org/users/index.html" TargetMode="External"/><Relationship Id="rId2" Type="http://schemas.openxmlformats.org/officeDocument/2006/relationships/hyperlink" Target="http://matplotlib.org/gallery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matplotlib.org/api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Quantitative Biological Research with Python (92847)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41654"/>
            <a:ext cx="9144000" cy="1655762"/>
          </a:xfrm>
        </p:spPr>
        <p:txBody>
          <a:bodyPr/>
          <a:lstStyle/>
          <a:p>
            <a:r>
              <a:rPr lang="en-US" dirty="0" smtClean="0"/>
              <a:t>TA 8 –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52749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Why not just using Excel?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7110743" cy="4475586"/>
          </a:xfrm>
        </p:spPr>
        <p:txBody>
          <a:bodyPr>
            <a:normAutofit/>
          </a:bodyPr>
          <a:lstStyle/>
          <a:p>
            <a:r>
              <a:rPr lang="en-US" dirty="0" smtClean="0"/>
              <a:t>Excel provides a simple GUI interface</a:t>
            </a:r>
          </a:p>
          <a:p>
            <a:r>
              <a:rPr lang="en-US" dirty="0" smtClean="0"/>
              <a:t>But it’s limited</a:t>
            </a:r>
          </a:p>
          <a:p>
            <a:r>
              <a:rPr lang="en-US" dirty="0" smtClean="0"/>
              <a:t>Requires transferring the obtained data (e.g. via CSV)</a:t>
            </a:r>
          </a:p>
          <a:p>
            <a:pPr lvl="1"/>
            <a:r>
              <a:rPr lang="en-US" dirty="0" smtClean="0"/>
              <a:t>More time will pass between doing the analysis and seeing the results</a:t>
            </a:r>
          </a:p>
          <a:p>
            <a:r>
              <a:rPr lang="en-US" dirty="0" smtClean="0"/>
              <a:t>Latency is crucial for interactive research</a:t>
            </a:r>
          </a:p>
          <a:p>
            <a:r>
              <a:rPr lang="en-US" dirty="0" smtClean="0"/>
              <a:t>We want a Python library that plots the results as we obtain them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819" y="2712334"/>
            <a:ext cx="4222255" cy="262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7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Matplotlib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 </a:t>
            </a:r>
            <a:r>
              <a:rPr lang="en-US" dirty="0"/>
              <a:t>standard Python plotting </a:t>
            </a:r>
            <a:r>
              <a:rPr lang="en-US" dirty="0" smtClean="0"/>
              <a:t>library</a:t>
            </a:r>
          </a:p>
          <a:p>
            <a:r>
              <a:rPr lang="en-US" dirty="0" smtClean="0"/>
              <a:t>Provides </a:t>
            </a:r>
            <a:r>
              <a:rPr lang="en-US" dirty="0"/>
              <a:t>a MATLAB-like </a:t>
            </a:r>
            <a:r>
              <a:rPr lang="en-US" dirty="0" smtClean="0"/>
              <a:t>interface, uses </a:t>
            </a:r>
            <a:r>
              <a:rPr lang="en-US" dirty="0" err="1" smtClean="0"/>
              <a:t>Numpy</a:t>
            </a:r>
            <a:endParaRPr lang="en-US" dirty="0" smtClean="0"/>
          </a:p>
          <a:p>
            <a:r>
              <a:rPr lang="en-US" dirty="0" smtClean="0"/>
              <a:t>Good integration with </a:t>
            </a:r>
            <a:r>
              <a:rPr lang="en-US" dirty="0" err="1" smtClean="0"/>
              <a:t>Jupyter</a:t>
            </a:r>
            <a:r>
              <a:rPr lang="en-US" dirty="0" smtClean="0"/>
              <a:t>; shortcuts in Pandas</a:t>
            </a:r>
          </a:p>
          <a:p>
            <a:r>
              <a:rPr lang="en-US" dirty="0" smtClean="0"/>
              <a:t>Pros:</a:t>
            </a:r>
          </a:p>
          <a:p>
            <a:pPr lvl="1"/>
            <a:r>
              <a:rPr lang="en-US" dirty="0" smtClean="0"/>
              <a:t>Very common (many users, questions and answers)</a:t>
            </a:r>
          </a:p>
          <a:p>
            <a:pPr lvl="1"/>
            <a:r>
              <a:rPr lang="en-US" dirty="0" smtClean="0"/>
              <a:t>Highly flexible (you can draw pretty much everything)</a:t>
            </a:r>
          </a:p>
          <a:p>
            <a:pPr lvl="1"/>
            <a:r>
              <a:rPr lang="en-US" dirty="0" smtClean="0"/>
              <a:t>Simple charts are simple to make</a:t>
            </a:r>
          </a:p>
          <a:p>
            <a:pPr lvl="1"/>
            <a:r>
              <a:rPr lang="en-US" dirty="0" smtClean="0"/>
              <a:t>Can design good-looking graphics</a:t>
            </a:r>
          </a:p>
          <a:p>
            <a:r>
              <a:rPr lang="en-US" dirty="0" smtClean="0"/>
              <a:t>Cons:</a:t>
            </a:r>
          </a:p>
          <a:p>
            <a:pPr lvl="1"/>
            <a:r>
              <a:rPr lang="en-US" dirty="0" smtClean="0"/>
              <a:t>Over-complicated (and </a:t>
            </a:r>
            <a:r>
              <a:rPr lang="en-US" dirty="0" smtClean="0"/>
              <a:t>inconsistent) </a:t>
            </a:r>
            <a:r>
              <a:rPr lang="en-US" dirty="0" smtClean="0"/>
              <a:t>API</a:t>
            </a:r>
          </a:p>
          <a:p>
            <a:pPr lvl="1"/>
            <a:r>
              <a:rPr lang="en-US" dirty="0" smtClean="0"/>
              <a:t>Documentation could be better</a:t>
            </a:r>
          </a:p>
          <a:p>
            <a:pPr lvl="1"/>
            <a:r>
              <a:rPr lang="en-US" dirty="0" smtClean="0"/>
              <a:t>Complex charts are sometimes hard to make</a:t>
            </a:r>
          </a:p>
          <a:p>
            <a:pPr lvl="1"/>
            <a:r>
              <a:rPr lang="en-US" dirty="0" smtClean="0"/>
              <a:t>The default design is not that beautiful</a:t>
            </a:r>
            <a:endParaRPr lang="en-US" dirty="0"/>
          </a:p>
        </p:txBody>
      </p:sp>
      <p:pic>
        <p:nvPicPr>
          <p:cNvPr id="1026" name="Picture 2" descr="https://upload.wikimedia.org/wikipedia/commons/thumb/0/01/Created_with_Matplotlib-logo.svg/2000px-Created_with_Matplotlib-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24" y="205038"/>
            <a:ext cx="1388952" cy="138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labri.fr/perso/nrougier/teaching/matplotlib/figures/exercice_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181" y="747381"/>
            <a:ext cx="3827950" cy="2870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tonysyu.github.io/raw_content/matplotlib-style-gallery/build/images/bmh/bar-plot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411" y="3857490"/>
            <a:ext cx="3411490" cy="255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52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i.stack.imgur.com/Zm6Yz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157" y="1138395"/>
            <a:ext cx="3966688" cy="2727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Other alternatives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534027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Seaborn</a:t>
            </a:r>
            <a:endParaRPr lang="en-US" dirty="0" smtClean="0"/>
          </a:p>
          <a:p>
            <a:pPr lvl="1"/>
            <a:r>
              <a:rPr lang="en-US" dirty="0" smtClean="0"/>
              <a:t>Based on </a:t>
            </a:r>
            <a:r>
              <a:rPr lang="en-US" dirty="0" err="1" smtClean="0"/>
              <a:t>Matplotlib</a:t>
            </a:r>
            <a:endParaRPr lang="en-US" dirty="0" smtClean="0"/>
          </a:p>
          <a:p>
            <a:pPr lvl="1"/>
            <a:r>
              <a:rPr lang="en-US" dirty="0" smtClean="0"/>
              <a:t>Coupled with statistical data processing</a:t>
            </a:r>
          </a:p>
          <a:p>
            <a:r>
              <a:rPr lang="en-US" dirty="0" err="1" smtClean="0"/>
              <a:t>Bokeh</a:t>
            </a:r>
            <a:endParaRPr lang="en-US" dirty="0" smtClean="0"/>
          </a:p>
          <a:p>
            <a:pPr lvl="1"/>
            <a:r>
              <a:rPr lang="en-US" dirty="0" smtClean="0"/>
              <a:t>Provides interactive plots (via JavaScript)</a:t>
            </a:r>
          </a:p>
          <a:p>
            <a:r>
              <a:rPr lang="en-US" dirty="0" smtClean="0"/>
              <a:t>Both provide more attractive default styles than </a:t>
            </a:r>
            <a:r>
              <a:rPr lang="en-US" dirty="0" err="1" smtClean="0"/>
              <a:t>Matplotlib</a:t>
            </a:r>
            <a:r>
              <a:rPr lang="en-US" dirty="0" smtClean="0"/>
              <a:t>, but are more limited and less commonly used. APIs are also not that great.</a:t>
            </a:r>
          </a:p>
          <a:p>
            <a:r>
              <a:rPr lang="en-US" dirty="0" smtClean="0"/>
              <a:t>There are more…</a:t>
            </a:r>
          </a:p>
        </p:txBody>
      </p:sp>
      <p:pic>
        <p:nvPicPr>
          <p:cNvPr id="2052" name="Picture 4" descr="http://bokeh.pydata.org/en/0.10.0/_images/brew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2543" y="4660174"/>
            <a:ext cx="2152302" cy="212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bokeh.pydata.org/en/0.8.2/_images/burtin_novel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416" y="4744015"/>
            <a:ext cx="1952889" cy="195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72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Know your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charts essentially illustrate the relationships between some variables</a:t>
            </a:r>
          </a:p>
          <a:p>
            <a:r>
              <a:rPr lang="en-US" dirty="0" smtClean="0"/>
              <a:t>In order to choose the right type of chart, you need to know:</a:t>
            </a:r>
          </a:p>
          <a:p>
            <a:pPr lvl="1"/>
            <a:r>
              <a:rPr lang="en-US" dirty="0" smtClean="0"/>
              <a:t>How many variables there are to visualize</a:t>
            </a:r>
          </a:p>
          <a:p>
            <a:pPr lvl="1"/>
            <a:r>
              <a:rPr lang="en-US" dirty="0" smtClean="0"/>
              <a:t>Whether each variable is </a:t>
            </a:r>
            <a:r>
              <a:rPr lang="en-US" b="1" dirty="0" smtClean="0"/>
              <a:t>numeric </a:t>
            </a:r>
            <a:r>
              <a:rPr lang="en-US" dirty="0" smtClean="0"/>
              <a:t>or </a:t>
            </a:r>
            <a:r>
              <a:rPr lang="en-US" b="1" dirty="0" smtClean="0"/>
              <a:t>categorical</a:t>
            </a:r>
            <a:endParaRPr lang="en-US" dirty="0"/>
          </a:p>
          <a:p>
            <a:r>
              <a:rPr lang="en-US" dirty="0" smtClean="0"/>
              <a:t>Although most charts are 2D, more variables can be packed in using various tricks (e.g. colors, shapes, sizes)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3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2424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/>
              <a:t>Types of charts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91521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Scatter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682777" cy="435133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Just a set of points, given by x-y(-z) coordinates</a:t>
            </a:r>
          </a:p>
          <a:p>
            <a:r>
              <a:rPr lang="en-US" dirty="0" err="1" smtClean="0"/>
              <a:t>Trendlines</a:t>
            </a:r>
            <a:r>
              <a:rPr lang="en-US" dirty="0" smtClean="0"/>
              <a:t> are sometimes added</a:t>
            </a:r>
          </a:p>
          <a:p>
            <a:r>
              <a:rPr lang="en-US" dirty="0" smtClean="0"/>
              <a:t>Points can be color-coded or vary in size and shape</a:t>
            </a:r>
          </a:p>
          <a:p>
            <a:r>
              <a:rPr lang="en-US" dirty="0" smtClean="0"/>
              <a:t>Axes can be transformed (e.g. log)</a:t>
            </a:r>
          </a:p>
          <a:p>
            <a:r>
              <a:rPr lang="en-US" dirty="0" smtClean="0"/>
              <a:t>Appropriate when all variables are numeric</a:t>
            </a:r>
          </a:p>
          <a:p>
            <a:r>
              <a:rPr lang="en-US" dirty="0" smtClean="0"/>
              <a:t>Always important to notice:</a:t>
            </a:r>
          </a:p>
          <a:p>
            <a:pPr lvl="1"/>
            <a:r>
              <a:rPr lang="en-US" dirty="0" smtClean="0"/>
              <a:t>What do the axes stand for?</a:t>
            </a:r>
          </a:p>
          <a:p>
            <a:pPr lvl="1"/>
            <a:r>
              <a:rPr lang="en-US" dirty="0" smtClean="0"/>
              <a:t>What does each point represent?</a:t>
            </a:r>
          </a:p>
          <a:p>
            <a:pPr lvl="1"/>
            <a:r>
              <a:rPr lang="en-US" dirty="0" smtClean="0"/>
              <a:t>What transformations &amp; filters have been applied on the data</a:t>
            </a:r>
            <a:endParaRPr lang="en-US" dirty="0"/>
          </a:p>
        </p:txBody>
      </p:sp>
      <p:pic>
        <p:nvPicPr>
          <p:cNvPr id="3078" name="Picture 6" descr="https://upload.wikimedia.org/wikipedia/commons/0/0f/Oldfaithful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977" y="778300"/>
            <a:ext cx="3447703" cy="343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s://upload.wikimedia.org/wikipedia/commons/c/c4/Scatter_plo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4620" y="4217405"/>
            <a:ext cx="2446620" cy="244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833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Line 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855710" cy="4351338"/>
          </a:xfrm>
        </p:spPr>
        <p:txBody>
          <a:bodyPr/>
          <a:lstStyle/>
          <a:p>
            <a:r>
              <a:rPr lang="en-US" dirty="0" smtClean="0"/>
              <a:t>A scatter plot with the points (“markers”) ordered and connected by lines</a:t>
            </a:r>
          </a:p>
          <a:p>
            <a:r>
              <a:rPr lang="en-US" dirty="0" smtClean="0"/>
              <a:t>Appropriate only if Y is believed to be a continuous function of X</a:t>
            </a:r>
          </a:p>
          <a:p>
            <a:pPr lvl="1"/>
            <a:r>
              <a:rPr lang="en-US" dirty="0" smtClean="0"/>
              <a:t>Otherwise will just be a mess</a:t>
            </a:r>
          </a:p>
          <a:p>
            <a:r>
              <a:rPr lang="en-US" dirty="0" smtClean="0"/>
              <a:t>Very common where X represents time</a:t>
            </a:r>
            <a:endParaRPr lang="en-US" dirty="0"/>
          </a:p>
        </p:txBody>
      </p:sp>
      <p:pic>
        <p:nvPicPr>
          <p:cNvPr id="4098" name="Picture 2" descr="http://66.media.tumblr.com/2bf0909609003f549e0d03406dc5a2dd/tumblr_mik00mS7rv1s6xcwuo1_128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910" y="1489337"/>
            <a:ext cx="4138969" cy="234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://software-carpentry.org/files/2012/05/day_vs_temp-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448" y="4001294"/>
            <a:ext cx="3529186" cy="2646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115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Bar 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673720" cy="4351338"/>
          </a:xfrm>
        </p:spPr>
        <p:txBody>
          <a:bodyPr/>
          <a:lstStyle/>
          <a:p>
            <a:r>
              <a:rPr lang="en-US" dirty="0" smtClean="0"/>
              <a:t>Represents relationships between categorical variable(s) (groups) to a numeric variable</a:t>
            </a:r>
          </a:p>
          <a:p>
            <a:r>
              <a:rPr lang="en-US" dirty="0" smtClean="0"/>
              <a:t>Categories can be side by side, or stacked on top of each other</a:t>
            </a:r>
          </a:p>
          <a:p>
            <a:r>
              <a:rPr lang="en-US" dirty="0" smtClean="0"/>
              <a:t>Error bars can be added to represent uncertainty (e.g. standard deviation or confidence interval)</a:t>
            </a:r>
            <a:endParaRPr lang="en-US" dirty="0"/>
          </a:p>
        </p:txBody>
      </p:sp>
      <p:pic>
        <p:nvPicPr>
          <p:cNvPr id="5122" name="Picture 2" descr="http://matplotlib.org/_images/barchart_dem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333" y="464788"/>
            <a:ext cx="3547293" cy="290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pandas.pydata.org/pandas-docs/version/0.18.1/_images/barh_plot_stacked_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920" y="3676123"/>
            <a:ext cx="3368774" cy="263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14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Histogram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065475" cy="435133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Represents the distribution of a numeric variable</a:t>
            </a:r>
          </a:p>
          <a:p>
            <a:r>
              <a:rPr lang="en-US" dirty="0" smtClean="0"/>
              <a:t>First “binning” the data, and then counting the number of values falling into each bin</a:t>
            </a:r>
          </a:p>
          <a:p>
            <a:r>
              <a:rPr lang="en-US" dirty="0" smtClean="0"/>
              <a:t>Bins are usually (but not necessarily) of equal size</a:t>
            </a:r>
          </a:p>
          <a:p>
            <a:r>
              <a:rPr lang="en-US" dirty="0" smtClean="0"/>
              <a:t>Y axis can be normalized to show frequencies, or left to show absolute values</a:t>
            </a:r>
          </a:p>
          <a:p>
            <a:r>
              <a:rPr lang="en-US" dirty="0" smtClean="0"/>
              <a:t>When normalized, the total area (not sum!) should equal 1</a:t>
            </a:r>
          </a:p>
          <a:p>
            <a:pPr lvl="1"/>
            <a:r>
              <a:rPr lang="en-US" dirty="0" smtClean="0"/>
              <a:t>Important with unequal bin sizes, and when combined with density function</a:t>
            </a:r>
            <a:endParaRPr lang="en-US" dirty="0"/>
          </a:p>
        </p:txBody>
      </p:sp>
      <p:pic>
        <p:nvPicPr>
          <p:cNvPr id="6146" name="Picture 2" descr="http://i.stack.imgur.com/6icED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0" t="6357" r="7755" b="6805"/>
          <a:stretch/>
        </p:blipFill>
        <p:spPr bwMode="auto">
          <a:xfrm>
            <a:off x="7788999" y="1764023"/>
            <a:ext cx="2965104" cy="231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i.stack.imgur.com/07J79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" r="3467"/>
          <a:stretch/>
        </p:blipFill>
        <p:spPr bwMode="auto">
          <a:xfrm>
            <a:off x="7903674" y="4355625"/>
            <a:ext cx="4218915" cy="242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://i.stack.imgur.com/BOchp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4102" y="2187926"/>
            <a:ext cx="1437897" cy="189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68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Density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8052304" cy="4351338"/>
          </a:xfrm>
        </p:spPr>
        <p:txBody>
          <a:bodyPr/>
          <a:lstStyle/>
          <a:p>
            <a:r>
              <a:rPr lang="en-US" dirty="0" smtClean="0"/>
              <a:t>Tries to </a:t>
            </a:r>
            <a:r>
              <a:rPr lang="en-US" dirty="0"/>
              <a:t>reconstruct </a:t>
            </a:r>
            <a:r>
              <a:rPr lang="en-US" dirty="0" smtClean="0"/>
              <a:t>the </a:t>
            </a:r>
            <a:r>
              <a:rPr lang="en-US" dirty="0"/>
              <a:t>density function of a </a:t>
            </a:r>
            <a:r>
              <a:rPr lang="en-US" dirty="0" smtClean="0"/>
              <a:t>continuous distribution</a:t>
            </a:r>
          </a:p>
          <a:p>
            <a:r>
              <a:rPr lang="en-US" dirty="0" smtClean="0"/>
              <a:t>A smooth version of histogram; the two are often combined</a:t>
            </a:r>
          </a:p>
          <a:p>
            <a:r>
              <a:rPr lang="en-US" dirty="0"/>
              <a:t>Relies on extrapolation, usually with </a:t>
            </a:r>
            <a:r>
              <a:rPr lang="en-US" b="1" dirty="0" smtClean="0"/>
              <a:t>kernels</a:t>
            </a:r>
            <a:r>
              <a:rPr lang="en-US" dirty="0" smtClean="0"/>
              <a:t> (assuming the density function is of some form)</a:t>
            </a:r>
          </a:p>
          <a:p>
            <a:pPr lvl="1"/>
            <a:r>
              <a:rPr lang="en-US" dirty="0" smtClean="0"/>
              <a:t>More decisions need to be made than with histograms</a:t>
            </a:r>
            <a:endParaRPr lang="en-US" dirty="0"/>
          </a:p>
        </p:txBody>
      </p:sp>
      <p:pic>
        <p:nvPicPr>
          <p:cNvPr id="7172" name="Picture 4" descr="http://pandas.pydata.org/pandas-docs/version/0.8.1/_images/whatsnew_k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069" y="927725"/>
            <a:ext cx="3746468" cy="2755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ttps://upload.wikimedia.org/wikipedia/commons/thumb/2/2a/Kernel_density.svg/250px-Kernel_density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069" y="4001294"/>
            <a:ext cx="3395049" cy="271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75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Cumulative Distribution Function </a:t>
            </a:r>
            <a:r>
              <a:rPr lang="en-US" dirty="0"/>
              <a:t>(CDF)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91820" cy="4351338"/>
              </a:xfrm>
            </p:spPr>
            <p:txBody>
              <a:bodyPr/>
              <a:lstStyle/>
              <a:p>
                <a:r>
                  <a:rPr lang="en-US" dirty="0" smtClean="0"/>
                  <a:t>A monotonic function that shows the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for any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Unlike density function, it’s always well-defined and doesn’t require </a:t>
                </a:r>
                <a:r>
                  <a:rPr lang="en-US" dirty="0"/>
                  <a:t>any </a:t>
                </a:r>
                <a:r>
                  <a:rPr lang="en-US" dirty="0" smtClean="0"/>
                  <a:t>heuristics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91820" cy="4351338"/>
              </a:xfrm>
              <a:blipFill rotWithShape="0">
                <a:blip r:embed="rId2"/>
                <a:stretch>
                  <a:fillRect l="-2156" t="-2241" r="-3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" t="3645" r="17426"/>
          <a:stretch/>
        </p:blipFill>
        <p:spPr>
          <a:xfrm>
            <a:off x="6029609" y="1508863"/>
            <a:ext cx="5884752" cy="5349137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5269117" y="2978590"/>
            <a:ext cx="4200808" cy="262550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90936" y="5415867"/>
                <a:ext cx="20370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FF0000"/>
                    </a:solidFill>
                  </a:rPr>
                  <a:t>~80% of the values are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≤15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936" y="5415867"/>
                <a:ext cx="2037030" cy="646331"/>
              </a:xfrm>
              <a:prstGeom prst="rect">
                <a:avLst/>
              </a:prstGeom>
              <a:blipFill rotWithShape="0">
                <a:blip r:embed="rId4"/>
                <a:stretch>
                  <a:fillRect l="-599" t="-4717" r="-2096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9469925" y="2978590"/>
            <a:ext cx="1883875" cy="332262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89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Pie 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038315" cy="4351338"/>
          </a:xfrm>
        </p:spPr>
        <p:txBody>
          <a:bodyPr/>
          <a:lstStyle/>
          <a:p>
            <a:r>
              <a:rPr lang="en-US" dirty="0" smtClean="0"/>
              <a:t>Distribution of </a:t>
            </a:r>
            <a:r>
              <a:rPr lang="en-US" smtClean="0"/>
              <a:t>a categorical variable</a:t>
            </a:r>
            <a:endParaRPr lang="en-US" dirty="0" smtClean="0"/>
          </a:p>
          <a:p>
            <a:r>
              <a:rPr lang="en-US" dirty="0" smtClean="0"/>
              <a:t>Can be labeled with percentages or absolute values</a:t>
            </a:r>
          </a:p>
          <a:p>
            <a:r>
              <a:rPr lang="en-US" dirty="0" smtClean="0"/>
              <a:t>Groups can be “exploded” for emphasis</a:t>
            </a:r>
          </a:p>
          <a:p>
            <a:r>
              <a:rPr lang="en-US" dirty="0" smtClean="0"/>
              <a:t>Quite limited</a:t>
            </a:r>
          </a:p>
          <a:p>
            <a:r>
              <a:rPr lang="en-US" dirty="0" smtClean="0"/>
              <a:t>Can be replaced by bar charts</a:t>
            </a:r>
            <a:endParaRPr lang="en-US" dirty="0"/>
          </a:p>
        </p:txBody>
      </p:sp>
      <p:pic>
        <p:nvPicPr>
          <p:cNvPr id="8194" name="Picture 2" descr="http://i.stack.imgur.com/0fo5C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9" r="14005" b="5897"/>
          <a:stretch/>
        </p:blipFill>
        <p:spPr bwMode="auto">
          <a:xfrm>
            <a:off x="7957995" y="504497"/>
            <a:ext cx="3766243" cy="3841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ttp://randyzwitch.com/wp-content/uploads/2015/05/donut-e143222447862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166" y="4345664"/>
            <a:ext cx="280035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59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Box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7242846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Like histograms and density plots</a:t>
            </a:r>
            <a:r>
              <a:rPr lang="en-US" dirty="0"/>
              <a:t>, </a:t>
            </a:r>
            <a:r>
              <a:rPr lang="en-US" dirty="0" smtClean="0"/>
              <a:t>describes the distribution of a numeric variable</a:t>
            </a:r>
          </a:p>
          <a:p>
            <a:r>
              <a:rPr lang="en-US" dirty="0" smtClean="0"/>
              <a:t>The box outlines the main measures of a distribution:</a:t>
            </a:r>
          </a:p>
          <a:p>
            <a:pPr lvl="1"/>
            <a:r>
              <a:rPr lang="en-US" dirty="0"/>
              <a:t>M</a:t>
            </a:r>
            <a:r>
              <a:rPr lang="en-US" dirty="0" smtClean="0"/>
              <a:t>edian (Q2)</a:t>
            </a:r>
          </a:p>
          <a:p>
            <a:pPr lvl="1"/>
            <a:r>
              <a:rPr lang="en-US" dirty="0" smtClean="0"/>
              <a:t>First and third quartiles (Q1 &amp; Q3)</a:t>
            </a:r>
          </a:p>
          <a:p>
            <a:pPr lvl="2"/>
            <a:r>
              <a:rPr lang="en-US" dirty="0" smtClean="0"/>
              <a:t>Indicates IQR (Q3 – Q1)</a:t>
            </a:r>
          </a:p>
          <a:p>
            <a:pPr lvl="1"/>
            <a:r>
              <a:rPr lang="en-US" dirty="0" smtClean="0"/>
              <a:t>Mean (optionally, as a dot) </a:t>
            </a:r>
          </a:p>
          <a:p>
            <a:r>
              <a:rPr lang="en-US" b="1" dirty="0" smtClean="0"/>
              <a:t>Whiskers</a:t>
            </a:r>
            <a:r>
              <a:rPr lang="en-US" dirty="0" smtClean="0"/>
              <a:t> can indicate many things, including:</a:t>
            </a:r>
          </a:p>
          <a:p>
            <a:pPr lvl="1"/>
            <a:r>
              <a:rPr lang="en-US" dirty="0" smtClean="0"/>
              <a:t>Global min &amp; max</a:t>
            </a:r>
          </a:p>
          <a:p>
            <a:pPr lvl="1"/>
            <a:r>
              <a:rPr lang="en-US" dirty="0" smtClean="0"/>
              <a:t>Lowest &amp; highest value within 1.5 IQR of Q1 &amp; Q3</a:t>
            </a:r>
          </a:p>
          <a:p>
            <a:pPr lvl="1"/>
            <a:r>
              <a:rPr lang="en-US" dirty="0" smtClean="0"/>
              <a:t>1 </a:t>
            </a:r>
            <a:r>
              <a:rPr lang="en-US" dirty="0" err="1" smtClean="0"/>
              <a:t>std</a:t>
            </a:r>
            <a:r>
              <a:rPr lang="en-US" dirty="0" smtClean="0"/>
              <a:t> below and above the mean</a:t>
            </a:r>
          </a:p>
          <a:p>
            <a:pPr lvl="1"/>
            <a:r>
              <a:rPr lang="en-US" dirty="0" smtClean="0"/>
              <a:t>9</a:t>
            </a:r>
            <a:r>
              <a:rPr lang="en-US" baseline="30000" dirty="0" smtClean="0"/>
              <a:t>th</a:t>
            </a:r>
            <a:r>
              <a:rPr lang="en-US" dirty="0" smtClean="0"/>
              <a:t>-91</a:t>
            </a:r>
            <a:r>
              <a:rPr lang="en-US" baseline="30000" dirty="0" smtClean="0"/>
              <a:t>st</a:t>
            </a:r>
            <a:r>
              <a:rPr lang="en-US" dirty="0" smtClean="0"/>
              <a:t> or 2</a:t>
            </a:r>
            <a:r>
              <a:rPr lang="en-US" baseline="30000" dirty="0" smtClean="0"/>
              <a:t>nd</a:t>
            </a:r>
            <a:r>
              <a:rPr lang="en-US" dirty="0" smtClean="0"/>
              <a:t>-98</a:t>
            </a:r>
            <a:r>
              <a:rPr lang="en-US" baseline="30000" dirty="0" smtClean="0"/>
              <a:t>th</a:t>
            </a:r>
            <a:r>
              <a:rPr lang="en-US" dirty="0" smtClean="0"/>
              <a:t> percentiles</a:t>
            </a:r>
          </a:p>
          <a:p>
            <a:r>
              <a:rPr lang="en-US" dirty="0" smtClean="0"/>
              <a:t>Values outside of the whiskers are usually plotted as outliers</a:t>
            </a:r>
          </a:p>
          <a:p>
            <a:pPr lvl="1"/>
            <a:endParaRPr lang="en-US" dirty="0"/>
          </a:p>
        </p:txBody>
      </p:sp>
      <p:pic>
        <p:nvPicPr>
          <p:cNvPr id="9220" name="Picture 4" descr="http://i.stack.imgur.com/pc9t7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1" t="6403" r="7623" b="4250"/>
          <a:stretch/>
        </p:blipFill>
        <p:spPr bwMode="auto">
          <a:xfrm>
            <a:off x="7648682" y="4970352"/>
            <a:ext cx="2151152" cy="170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http://i.stack.imgur.com/nTpJH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9" t="8443" r="8587" b="5626"/>
          <a:stretch/>
        </p:blipFill>
        <p:spPr bwMode="auto">
          <a:xfrm>
            <a:off x="9903679" y="4970352"/>
            <a:ext cx="2186681" cy="170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http://i0.wp.com/mintgene.files.wordpress.com/2013/01/ggplot2_boxplots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8"/>
          <a:stretch/>
        </p:blipFill>
        <p:spPr bwMode="auto">
          <a:xfrm>
            <a:off x="8491056" y="335655"/>
            <a:ext cx="3561709" cy="4191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71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Heat 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264651" cy="4351338"/>
          </a:xfrm>
        </p:spPr>
        <p:txBody>
          <a:bodyPr/>
          <a:lstStyle/>
          <a:p>
            <a:r>
              <a:rPr lang="en-US" dirty="0"/>
              <a:t>A matrix of </a:t>
            </a:r>
            <a:r>
              <a:rPr lang="en-US" dirty="0" smtClean="0"/>
              <a:t>colors</a:t>
            </a:r>
          </a:p>
          <a:p>
            <a:r>
              <a:rPr lang="en-US" dirty="0" smtClean="0"/>
              <a:t>Represents a numeric variable depending on two (usually discrete) variables</a:t>
            </a:r>
          </a:p>
          <a:p>
            <a:pPr lvl="1"/>
            <a:r>
              <a:rPr lang="en-US" dirty="0" smtClean="0"/>
              <a:t>Avoids 3D graphs</a:t>
            </a:r>
          </a:p>
          <a:p>
            <a:r>
              <a:rPr lang="en-US" dirty="0" smtClean="0"/>
              <a:t>Important to choose a simple color map </a:t>
            </a:r>
            <a:r>
              <a:rPr lang="en-US" b="1" dirty="0" smtClean="0"/>
              <a:t>and display it</a:t>
            </a:r>
          </a:p>
          <a:p>
            <a:r>
              <a:rPr lang="en-US" dirty="0" smtClean="0"/>
              <a:t>Very commonly used for:</a:t>
            </a:r>
          </a:p>
          <a:p>
            <a:pPr lvl="1"/>
            <a:r>
              <a:rPr lang="en-US" dirty="0" smtClean="0"/>
              <a:t>Similarity/distance matrix</a:t>
            </a:r>
          </a:p>
          <a:p>
            <a:pPr lvl="1"/>
            <a:r>
              <a:rPr lang="en-US" dirty="0" smtClean="0"/>
              <a:t>Gene expression (of different genes and samples)</a:t>
            </a:r>
          </a:p>
        </p:txBody>
      </p:sp>
      <p:pic>
        <p:nvPicPr>
          <p:cNvPr id="10242" name="Picture 2" descr="http://pixelm.com/data/wp-content/uploads/2014/07/Screen-Shot-2014-07-04-at-3.17.06-P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641" y="4392506"/>
            <a:ext cx="3800789" cy="234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://amber-md.github.io/pytraj/latest/_images/matrix_cova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5" t="7246" r="15636" b="8020"/>
          <a:stretch/>
        </p:blipFill>
        <p:spPr bwMode="auto">
          <a:xfrm>
            <a:off x="8437830" y="805759"/>
            <a:ext cx="3657600" cy="333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38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More types</a:t>
            </a:r>
            <a:endParaRPr lang="en-US" dirty="0"/>
          </a:p>
        </p:txBody>
      </p:sp>
      <p:pic>
        <p:nvPicPr>
          <p:cNvPr id="11266" name="Picture 2" descr="https://i-msdn.sec.s-msft.com/dynimg/IC8673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" t="6877" r="8231" b="8415"/>
          <a:stretch/>
        </p:blipFill>
        <p:spPr bwMode="auto">
          <a:xfrm>
            <a:off x="389301" y="1883478"/>
            <a:ext cx="3349782" cy="192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3376" y="1514146"/>
            <a:ext cx="336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Area chart</a:t>
            </a:r>
            <a:endParaRPr lang="en-US" b="1" dirty="0"/>
          </a:p>
        </p:txBody>
      </p:sp>
      <p:pic>
        <p:nvPicPr>
          <p:cNvPr id="11268" name="Picture 4" descr="https://developer.salesforce.com/docs/resources/img/en-us/204.0?doc_id=dev_guides%2Fpages%2Fimages%2Fpages_charting_radar_chart.png&amp;folder=pag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665" y="1928471"/>
            <a:ext cx="2551401" cy="204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283420" y="1514146"/>
            <a:ext cx="336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Radar chart</a:t>
            </a:r>
            <a:endParaRPr lang="en-US" b="1" dirty="0"/>
          </a:p>
        </p:txBody>
      </p:sp>
      <p:pic>
        <p:nvPicPr>
          <p:cNvPr id="11270" name="Picture 6" descr="../../_images/polar_scatter_demo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2" t="-1" r="8419" b="3132"/>
          <a:stretch/>
        </p:blipFill>
        <p:spPr bwMode="auto">
          <a:xfrm>
            <a:off x="8465743" y="1785423"/>
            <a:ext cx="2408223" cy="233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985911" y="1514146"/>
            <a:ext cx="336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Polar chart</a:t>
            </a:r>
            <a:endParaRPr lang="en-US" b="1" dirty="0"/>
          </a:p>
        </p:txBody>
      </p:sp>
      <p:pic>
        <p:nvPicPr>
          <p:cNvPr id="11276" name="Picture 12" descr="http://www.togaware.com/datamining/survivor/rplot-wine-vioplot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7" t="14124" r="6341" b="9836"/>
          <a:stretch/>
        </p:blipFill>
        <p:spPr bwMode="auto">
          <a:xfrm>
            <a:off x="389301" y="4309445"/>
            <a:ext cx="2766970" cy="245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2901" y="3990615"/>
            <a:ext cx="336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Violin plot</a:t>
            </a:r>
            <a:endParaRPr lang="en-US" b="1" dirty="0"/>
          </a:p>
        </p:txBody>
      </p:sp>
      <p:pic>
        <p:nvPicPr>
          <p:cNvPr id="11278" name="Picture 14" descr="../../_images/scatter_hist1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766" y="4375149"/>
            <a:ext cx="2397198" cy="2397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287464" y="4025322"/>
            <a:ext cx="336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Scatter + histograms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5151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More visual aids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Texts &amp; arrows</a:t>
            </a:r>
          </a:p>
          <a:p>
            <a:r>
              <a:rPr lang="en-US" dirty="0" smtClean="0"/>
              <a:t>Lines</a:t>
            </a:r>
          </a:p>
          <a:p>
            <a:r>
              <a:rPr lang="en-US" dirty="0" smtClean="0"/>
              <a:t>Confidence area </a:t>
            </a:r>
            <a:endParaRPr lang="en-US" dirty="0"/>
          </a:p>
        </p:txBody>
      </p:sp>
      <p:pic>
        <p:nvPicPr>
          <p:cNvPr id="12290" name="Picture 2" descr="http://i.stack.imgur.com/Lo5Q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886" y="4283149"/>
            <a:ext cx="3438651" cy="240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../_images/annotation_basi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945" y="1312548"/>
            <a:ext cx="3465811" cy="283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http://swharden.com/wp/images/compusage_white-525x2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18180"/>
            <a:ext cx="6612802" cy="268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09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Caveats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Handle outliers with care</a:t>
            </a:r>
          </a:p>
          <a:p>
            <a:pPr lvl="1"/>
            <a:r>
              <a:rPr lang="en-US" dirty="0" smtClean="0"/>
              <a:t>Get rid of them only if they really cannot be accommodated in the graph, not just to make your proposition more convincing</a:t>
            </a:r>
          </a:p>
          <a:p>
            <a:pPr lvl="1"/>
            <a:r>
              <a:rPr lang="en-US" dirty="0" smtClean="0"/>
              <a:t>Indicate their removal on the caption </a:t>
            </a:r>
          </a:p>
          <a:p>
            <a:r>
              <a:rPr lang="en-US" dirty="0" smtClean="0"/>
              <a:t>Same goes for data transformations (e.g. log scale)</a:t>
            </a:r>
          </a:p>
          <a:p>
            <a:r>
              <a:rPr lang="en-US" dirty="0" smtClean="0"/>
              <a:t>Sight can be misleading</a:t>
            </a:r>
          </a:p>
          <a:p>
            <a:pPr lvl="1"/>
            <a:r>
              <a:rPr lang="en-US" dirty="0" smtClean="0"/>
              <a:t>Our brains often see patterns where there’s just noise</a:t>
            </a:r>
            <a:endParaRPr lang="en-US" dirty="0"/>
          </a:p>
          <a:p>
            <a:pPr lvl="1"/>
            <a:r>
              <a:rPr lang="en-US" dirty="0" smtClean="0"/>
              <a:t>Important to combine visual aids with rigorous statistics (we’ll get to it…)</a:t>
            </a:r>
          </a:p>
        </p:txBody>
      </p:sp>
    </p:spTree>
    <p:extLst>
      <p:ext uri="{BB962C8B-B14F-4D97-AF65-F5344CB8AC3E}">
        <p14:creationId xmlns:p14="http://schemas.microsoft.com/office/powerpoint/2010/main" val="414699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Let’s get started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gallery: </a:t>
            </a:r>
            <a:r>
              <a:rPr lang="en-US" dirty="0">
                <a:hlinkClick r:id="rId2"/>
              </a:rPr>
              <a:t>http://matplotlib.org/gallery.html</a:t>
            </a:r>
            <a:r>
              <a:rPr lang="en-US" dirty="0"/>
              <a:t> </a:t>
            </a:r>
          </a:p>
          <a:p>
            <a:r>
              <a:rPr lang="en-US" dirty="0"/>
              <a:t>User’s guide: </a:t>
            </a:r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matplotlib.org/users/index.html</a:t>
            </a:r>
            <a:r>
              <a:rPr lang="en-US" dirty="0" smtClean="0"/>
              <a:t> </a:t>
            </a:r>
          </a:p>
          <a:p>
            <a:r>
              <a:rPr lang="en-US" dirty="0"/>
              <a:t>API: </a:t>
            </a:r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matplotlib.org/api/index.html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425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23242</TotalTime>
  <Words>883</Words>
  <Application>Microsoft Office PowerPoint</Application>
  <PresentationFormat>Widescreen</PresentationFormat>
  <Paragraphs>122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Quantitative Biological Research with Python (92847)</vt:lpstr>
      <vt:lpstr>Why not just using Excel?</vt:lpstr>
      <vt:lpstr>Matplotlib</vt:lpstr>
      <vt:lpstr>Other alternatives</vt:lpstr>
      <vt:lpstr>Know your variables</vt:lpstr>
      <vt:lpstr>Types of charts</vt:lpstr>
      <vt:lpstr>Scatter plot</vt:lpstr>
      <vt:lpstr>Line chart</vt:lpstr>
      <vt:lpstr>Bar chart</vt:lpstr>
      <vt:lpstr>Histogram</vt:lpstr>
      <vt:lpstr>Density plot</vt:lpstr>
      <vt:lpstr>Cumulative Distribution Function (CDF)</vt:lpstr>
      <vt:lpstr>Pie chart</vt:lpstr>
      <vt:lpstr>Box plot</vt:lpstr>
      <vt:lpstr>Heat map</vt:lpstr>
      <vt:lpstr>More types</vt:lpstr>
      <vt:lpstr>More visual aids</vt:lpstr>
      <vt:lpstr>Caveats</vt:lpstr>
      <vt:lpstr>Let’s get started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Biological Research with Python (92847) – Course Outline</dc:title>
  <dc:creator>Nadav Brandes</dc:creator>
  <cp:lastModifiedBy>Nadav Brandes</cp:lastModifiedBy>
  <cp:revision>806</cp:revision>
  <dcterms:created xsi:type="dcterms:W3CDTF">2016-10-14T13:10:16Z</dcterms:created>
  <dcterms:modified xsi:type="dcterms:W3CDTF">2019-12-15T17:56:00Z</dcterms:modified>
</cp:coreProperties>
</file>